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-53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274320"/>
            <a:ext cx="3200400" cy="3200400"/>
          </a:xfrm>
          <a:prstGeom prst="ellipse">
            <a:avLst/>
          </a:prstGeom>
          <a:solidFill>
            <a:srgbClr val="E85D04">
              <a:alpha val="4000"/>
            </a:srgbClr>
          </a:solidFill>
          <a:ln w="12700">
            <a:solidFill>
              <a:srgbClr val="E85D04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PORTFOLIO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Pizza Sales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→  Python EDA  →  Power BI 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5720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48,620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21,350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3328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$817.86K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328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3328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Variants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621792"/>
          </a:xfrm>
          <a:prstGeom prst="rect">
            <a:avLst/>
          </a:prstGeom>
          <a:solidFill>
            <a:srgbClr val="334155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2394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&amp; Healthcare Data Science  |  Dubai, UAE  |  </a:t>
            </a: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Python · Power BI · SQL EDA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— and who needs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84048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48,620 pizza sales transactions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Jan–Dec 2015 from a fictional QSR chain. This end-to-end pipeline covers:
</a:t>
            </a:r>
            <a:r>
              <a:rPr lang="en-US" sz="1050" b="1" dirty="0" smtClean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050" b="1" dirty="0" smtClean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raw ingestion, date cleaning, 15+ EDA queries
</a:t>
            </a:r>
            <a:r>
              <a:rPr lang="en-US" sz="1050" b="1" dirty="0" smtClean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050" b="1" dirty="0" smtClean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2-page interactive dashboard with slicers, DAX, and business insight panel
</a:t>
            </a: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card, chart, and insight maps directly to real F&amp;B operations decisions.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3063240"/>
          <a:ext cx="3474720" cy="1792224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0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0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48,620 transactions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 – Dec 31, 2015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fields per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unique pizzas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· Supreme · Chicken · Veggie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· M · L · XL · XXL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434840" y="960120"/>
            <a:ext cx="22402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960120"/>
            <a:ext cx="54864" cy="17556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960120"/>
            <a:ext cx="2240280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2856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62856" y="1435608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avg, cumulative revenue trends. Category and size contribution analysis.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960120"/>
            <a:ext cx="22402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766560" y="960120"/>
            <a:ext cx="54864" cy="17556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960120"/>
            <a:ext cx="2240280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94576" y="10241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94576" y="1435608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5 by revenue, quantity, orders. Category-level ranking with CTEs.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34840" y="2862072"/>
            <a:ext cx="22402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34840" y="2862072"/>
            <a:ext cx="54864" cy="17556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2862072"/>
            <a:ext cx="2240280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62856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Demand Trends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62856" y="3337560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monthly order patterns. Peak/off-peak identification.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66560" y="2862072"/>
            <a:ext cx="22402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2862072"/>
            <a:ext cx="54864" cy="175564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66560" y="2862072"/>
            <a:ext cx="2240280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94576" y="29260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94576" y="3337560"/>
            <a:ext cx="2057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pruning, staffing, pricing, inventory — all backed by SQL evidence.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DEMAND &amp; INDUSTRY RELEVANCE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matters for your career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29968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029968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$1.65T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food delivery market by 2030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2024 — all growth is data-driven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29968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960120"/>
            <a:ext cx="2029968" cy="54864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7899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$13B+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42032" y="160020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F&amp;B annual revenue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2032" y="19019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retail sector in the Emirates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29968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960120"/>
            <a:ext cx="20299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7899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18304" y="160020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 in Dubai analyst JDs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18304" y="19019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Bayt.com &amp; LinkedIn — PostgreSQL specifically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2029968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960120"/>
            <a:ext cx="2029968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7899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94576" y="1600200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adoption in UAE F&amp;B 2024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94576" y="190195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are a direct hiring prerequisite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8595360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5054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THIS PROJECT VALIDATES FOR EMPLOYERS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645920" cy="1993392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34640"/>
            <a:ext cx="1645920" cy="5486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92608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55848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273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DML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210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to_date() casting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398264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(WITH clause)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11680" y="2834640"/>
            <a:ext cx="1645920" cy="1993392"/>
          </a:xfrm>
          <a:prstGeom prst="rect">
            <a:avLst/>
          </a:prstGeom>
          <a:solidFill>
            <a:srgbClr val="0D1F35"/>
          </a:solidFill>
          <a:ln w="12700">
            <a:solidFill>
              <a:srgbClr val="185FA5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2834640"/>
            <a:ext cx="164592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292608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03120" y="3355848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12848" y="3273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3703320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12848" y="36210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103120" y="4050792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12848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03120" y="4398264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12848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49040" y="2834640"/>
            <a:ext cx="1645920" cy="1993392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2834640"/>
            <a:ext cx="164592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292608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40480" y="335584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50208" y="3273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queries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40480" y="370332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0208" y="36210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40480" y="405079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50208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PARTITION BY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840480" y="439826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0208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SUM OVER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2834640"/>
            <a:ext cx="1645920" cy="1993392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0" y="2834640"/>
            <a:ext cx="1645920" cy="54864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9552" y="292608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77840" y="3355848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3273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77840" y="3703320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6210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77840" y="4050792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87568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interactivity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577840" y="4398264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87568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panels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223760" y="2834640"/>
            <a:ext cx="1645920" cy="1993392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23760" y="2834640"/>
            <a:ext cx="16459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96912" y="292608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15200" y="3355848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24928" y="3273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narrative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315200" y="3703320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24928" y="36210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Best/worst analysis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315200" y="4050792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24928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insight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315200" y="4398264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24928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EDA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 → cleaning → 15 analytical queries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64592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088136"/>
            <a:ext cx="438912" cy="43891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088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pizza_sales_raw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07568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stored as 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mixed DD/MM/YYYY format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48,620 rows loaded via COPY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0" y="96012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960120"/>
            <a:ext cx="164592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088136"/>
            <a:ext cx="438912" cy="43891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088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8483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84832" y="207568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to_date() + ::date cast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order_time::time conversion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 validated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96012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960120"/>
            <a:ext cx="1645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1088136"/>
            <a:ext cx="438912" cy="43891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1088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219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Queries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headline metrics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22192" y="207568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Orders · Qty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· Avg/Order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via aggregate 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96012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960120"/>
            <a:ext cx="1645920" cy="6400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9904" y="1088136"/>
            <a:ext cx="438912" cy="438912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088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5955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TO_CHAR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59552" y="207568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· Daily · Monthly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avg per day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identification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96012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960120"/>
            <a:ext cx="1645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27264" y="1088136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088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RANK · OVER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96912" y="2075688"/>
            <a:ext cx="1499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contribution per category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per category (CTE)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2788920"/>
            <a:ext cx="4114800" cy="2029968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28529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Advanced Window Function (Phase 5)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309067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1480" y="319582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order_date,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1480" y="330098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SUM(total_price) AS daily_revenue,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11480" y="340614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SUM(SUM(total_price))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11480" y="351129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 (ORDER BY order_date)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11480" y="361645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cumulative_revenue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1480" y="372160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pizza_sales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11480" y="382676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order_date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11480" y="393192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order_date;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11480" y="403707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11480" y="414223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CTE for Top 3 per Category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11480" y="424738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ranked AS (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11480" y="435254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pizza_category, pizza_name_id,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11480" y="445770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SUM(total_price) AS revenue,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1480" y="4562856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11480" y="4668012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pizza_category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11480" y="4773168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SUM(total_price) DESC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11480" y="4878324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rn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63440" y="2788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SQL Queries Covered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154680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315468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321808" y="3154680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· Avg Order Value · Total Orders · Qty · Avg/Order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3369564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3440" y="33695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321808" y="336956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/ Bottom 5 by revenue, qty, orders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3584448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35844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321808" y="3584448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 by hour of day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3799332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37993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321808" y="3799332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(Sun–Sat) · Monthly (Jan–Dec) order counts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4014216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401421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321808" y="4014216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· % category contribution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663440" y="4229100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422910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321808" y="4229100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OVER PARTITION — top 3 per category CTE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663440" y="4443984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44439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321808" y="444398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priced pizza · most common size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63440" y="4658868"/>
            <a:ext cx="594360" cy="182880"/>
          </a:xfrm>
          <a:prstGeom prst="rect">
            <a:avLst/>
          </a:prstGeom>
          <a:solidFill>
            <a:srgbClr val="E85D04">
              <a:alpha val="20000"/>
            </a:srgbClr>
          </a:solidFill>
          <a:ln w="12700">
            <a:solidFill>
              <a:srgbClr val="E85D04">
                <a:alpha val="5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0" y="46588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Avg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321808" y="4658868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AVG(SUM()) OVER() — rolling daily average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headline metrics from SQL aggregate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08813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881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13990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$817,860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02336" y="20025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2768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2015 · all categories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248716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SUM(total_price)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27832" y="96012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960120"/>
            <a:ext cx="278892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08813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881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55848" y="13990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$38.31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355848" y="20025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22768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unique order_id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248716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/ COUNT DISTINCT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81344" y="96012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960120"/>
            <a:ext cx="2788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08813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0881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09360" y="13990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21,350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309360" y="20025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27685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48716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COUNT(DISTINCT order_id)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80360"/>
            <a:ext cx="2788920" cy="6400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00837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0083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33192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49,574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402336" y="392277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Pizzas Sold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2336" y="419709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quantities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440740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SUM(quantity)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27832" y="288036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27832" y="2880360"/>
            <a:ext cx="2788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55848" y="300837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0083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5848" y="33192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2.32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3355848" y="392277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Pizzas / Order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55848" y="419709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 metric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55848" y="440740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 decimal division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81344" y="2880360"/>
            <a:ext cx="278892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2880360"/>
            <a:ext cx="278892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008376"/>
            <a:ext cx="1005840" cy="219456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0083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33192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138.47</a:t>
            </a:r>
            <a:endParaRPr lang="en-US" sz="3400" dirty="0"/>
          </a:p>
        </p:txBody>
      </p:sp>
      <p:sp>
        <p:nvSpPr>
          <p:cNvPr id="50" name="Text 48"/>
          <p:cNvSpPr/>
          <p:nvPr/>
        </p:nvSpPr>
        <p:spPr>
          <a:xfrm>
            <a:off x="6309360" y="392277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Pizzas / Day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09360" y="4197096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baseline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09360" y="440740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AVG(SUM()) OVER()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&amp; bottom 5 pizzas — revenue · quantity · orders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1627632" cy="1188720"/>
          </a:xfrm>
          <a:prstGeom prst="rect">
            <a:avLst/>
          </a:prstGeom>
          <a:solidFill>
            <a:srgbClr val="0D2E18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9844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38988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7007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$43,434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19385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21762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93392" y="1298448"/>
            <a:ext cx="1627632" cy="1188720"/>
          </a:xfrm>
          <a:prstGeom prst="rect">
            <a:avLst/>
          </a:prstGeom>
          <a:solidFill>
            <a:srgbClr val="0D2E18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3392" y="129844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138988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BBQ Chicken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17007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50592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$42,768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57400" y="19385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50592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21762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50592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12464" y="1298448"/>
            <a:ext cx="1627632" cy="1188720"/>
          </a:xfrm>
          <a:prstGeom prst="rect">
            <a:avLst/>
          </a:prstGeom>
          <a:solidFill>
            <a:srgbClr val="0D2E18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12464" y="129844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138988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Chicken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76472" y="17007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69664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$41,410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76472" y="19385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69664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76472" y="21762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69664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31536" y="1298448"/>
            <a:ext cx="1627632" cy="1188720"/>
          </a:xfrm>
          <a:prstGeom prst="rect">
            <a:avLst/>
          </a:prstGeom>
          <a:solidFill>
            <a:srgbClr val="0D2E18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1536" y="129844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138988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Deluxe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95544" y="17007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88736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$38,181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95544" y="19385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88736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95544" y="21762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88736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50608" y="1298448"/>
            <a:ext cx="1627632" cy="1188720"/>
          </a:xfrm>
          <a:prstGeom prst="rect">
            <a:avLst/>
          </a:prstGeom>
          <a:solidFill>
            <a:srgbClr val="0D2E18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0608" y="129844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138988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 Italian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14616" y="17007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07808" y="17007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$34,831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14616" y="19385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07808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14616" y="21762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07808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1,808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2606040"/>
            <a:ext cx="8595360" cy="274320"/>
          </a:xfrm>
          <a:prstGeom prst="rect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63347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SELLERS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944368"/>
            <a:ext cx="1627632" cy="1188720"/>
          </a:xfrm>
          <a:prstGeom prst="rect">
            <a:avLst/>
          </a:prstGeom>
          <a:solidFill>
            <a:srgbClr val="2E0A0A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294436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303580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8328" y="33467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31520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$11,589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38328" y="3584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1520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38328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1520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993392" y="2944368"/>
            <a:ext cx="1627632" cy="1188720"/>
          </a:xfrm>
          <a:prstGeom prst="rect">
            <a:avLst/>
          </a:prstGeom>
          <a:solidFill>
            <a:srgbClr val="2E0A0A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93392" y="294436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57400" y="303580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Garden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057400" y="33467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450592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$13,956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057400" y="3584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450592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057400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450592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712464" y="2944368"/>
            <a:ext cx="1627632" cy="1188720"/>
          </a:xfrm>
          <a:prstGeom prst="rect">
            <a:avLst/>
          </a:prstGeom>
          <a:solidFill>
            <a:srgbClr val="2E0A0A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12464" y="294436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76472" y="303580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Spinach Supreme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776472" y="33467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169664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$15,278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776472" y="3584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169664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3776472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169664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431536" y="2944368"/>
            <a:ext cx="1627632" cy="1188720"/>
          </a:xfrm>
          <a:prstGeom prst="rect">
            <a:avLst/>
          </a:prstGeom>
          <a:solidFill>
            <a:srgbClr val="2E0A0A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31536" y="294436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95544" y="303580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495544" y="33467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88736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$15,361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495544" y="3584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88736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5495544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88736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7150608" y="2944368"/>
            <a:ext cx="1627632" cy="1188720"/>
          </a:xfrm>
          <a:prstGeom prst="rect">
            <a:avLst/>
          </a:prstGeom>
          <a:solidFill>
            <a:srgbClr val="2E0A0A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50608" y="294436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14616" y="3035808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Spinach Pesto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214616" y="33467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607808" y="3346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$15,596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214616" y="35844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Qty: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607808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7214616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Ord: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607808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" y="424281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Brie Carre Pizza earns $11,589 vs Thai Chicken at $43,434 — a 274% revenue gap. Menu rationalisation opportunity.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 · daily · monthly demand patterns from PostgreSQL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Day of Week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652784"/>
            <a:ext cx="530352" cy="101726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92608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1586879"/>
            <a:ext cx="530352" cy="1083169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1517485"/>
            <a:ext cx="530352" cy="1152563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63040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48256" y="1497714"/>
            <a:ext cx="530352" cy="1172334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48256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33472" y="1414363"/>
            <a:ext cx="530352" cy="1255685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33472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1298448"/>
            <a:ext cx="530352" cy="13716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18688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03904" y="1445765"/>
            <a:ext cx="530352" cy="1224283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1234440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3158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03904" y="2706624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11480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62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busiest (3,538 orders) — 34.8% more than Sunday (2,624). Thu/Fri/Sat = weekend peak block.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81728" y="1526257"/>
            <a:ext cx="292608" cy="778031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6817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4628" y="1931251"/>
            <a:ext cx="292608" cy="373037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46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1685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0246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67528" y="1538913"/>
            <a:ext cx="292608" cy="765375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1840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3675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10428" y="1642693"/>
            <a:ext cx="292608" cy="661595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04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1799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7104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53328" y="1506007"/>
            <a:ext cx="292608" cy="798281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1853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0533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96228" y="1708504"/>
            <a:ext cx="292608" cy="595784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62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3962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39128" y="1298448"/>
            <a:ext cx="292608" cy="10058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91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1935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7391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082028" y="1536382"/>
            <a:ext cx="292608" cy="767906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20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1841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70820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24928" y="1992000"/>
            <a:ext cx="292608" cy="31228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249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4249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767828" y="2029968"/>
            <a:ext cx="292608" cy="2743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678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7678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110728" y="1660411"/>
            <a:ext cx="292608" cy="643877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107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1107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453628" y="1943907"/>
            <a:ext cx="292608" cy="360381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53628" y="1234440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8453628" y="2340864"/>
            <a:ext cx="292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63440" y="2578608"/>
            <a:ext cx="4114800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25968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peaks at 1,935 orders. Sep/Oct dip to 1,661/1,646. May/Jul/Aug = summer high season.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74320" y="3291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Analysis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3639312"/>
            <a:ext cx="100584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3,210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27432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71600" y="3639312"/>
            <a:ext cx="1005840" cy="658368"/>
          </a:xfrm>
          <a:prstGeom prst="rect">
            <a:avLst/>
          </a:prstGeom>
          <a:solidFill>
            <a:srgbClr val="E85D04">
              <a:alpha val="25000"/>
            </a:srgbClr>
          </a:solidFill>
          <a:ln w="12700">
            <a:solidFill>
              <a:srgbClr val="E85D04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7160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6,543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37160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12pm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389888" y="3438144"/>
            <a:ext cx="969264" cy="1645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89888" y="3438144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468880" y="3639312"/>
            <a:ext cx="1005840" cy="658368"/>
          </a:xfrm>
          <a:prstGeom prst="rect">
            <a:avLst/>
          </a:prstGeom>
          <a:solidFill>
            <a:srgbClr val="E85D04">
              <a:alpha val="25000"/>
            </a:srgbClr>
          </a:solidFill>
          <a:ln w="12700">
            <a:solidFill>
              <a:srgbClr val="E85D04">
                <a:alpha val="6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6888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6,203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246888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487168" y="3438144"/>
            <a:ext cx="969264" cy="1645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87168" y="3438144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566160" y="3639312"/>
            <a:ext cx="100584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6616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3,521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356616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2pm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3639312"/>
            <a:ext cx="1005840" cy="658368"/>
          </a:xfrm>
          <a:prstGeom prst="rect">
            <a:avLst/>
          </a:prstGeom>
          <a:solidFill>
            <a:srgbClr val="0F6D7E">
              <a:alpha val="25000"/>
            </a:srgbClr>
          </a:solidFill>
          <a:ln w="12700">
            <a:solidFill>
              <a:srgbClr val="0F6D7E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5,143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66344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5pm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81728" y="3438144"/>
            <a:ext cx="969264" cy="164592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81728" y="3438144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760720" y="3639312"/>
            <a:ext cx="1005840" cy="658368"/>
          </a:xfrm>
          <a:prstGeom prst="rect">
            <a:avLst/>
          </a:prstGeom>
          <a:solidFill>
            <a:srgbClr val="0F6D7E">
              <a:alpha val="25000"/>
            </a:srgbClr>
          </a:solidFill>
          <a:ln w="12700">
            <a:solidFill>
              <a:srgbClr val="0F6D7E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6072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5,359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576072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6pm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779008" y="3438144"/>
            <a:ext cx="969264" cy="164592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79008" y="3438144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858000" y="3639312"/>
            <a:ext cx="100584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5800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4,350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685800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7pm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955280" y="3639312"/>
            <a:ext cx="1005840" cy="65836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55280" y="3694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3,487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7955280" y="40050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8pm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SIZE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distribution · size mix · SQL window function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 by 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3990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1691640"/>
            <a:ext cx="0" cy="14630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209" y="168665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26.91% | $220,053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85FA5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75688"/>
            <a:ext cx="54864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1488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2441448"/>
            <a:ext cx="0" cy="14630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209" y="24414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25.46% | $208,197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25496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25496"/>
            <a:ext cx="54864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898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" y="3191256"/>
            <a:ext cx="0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209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23.96% | $195,920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575304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75304"/>
            <a:ext cx="54864" cy="640080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6484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Veggie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" y="3941064"/>
            <a:ext cx="0" cy="146304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9410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23.68% | $193,690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352544"/>
            <a:ext cx="4114800" cy="201168"/>
          </a:xfrm>
          <a:prstGeom prst="rect">
            <a:avLst/>
          </a:prstGeom>
          <a:solidFill>
            <a:srgbClr val="FFF0E6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6168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revenue split (24–27%) across all 4 categories — strong portfolio balance.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 by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114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399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1673352"/>
            <a:ext cx="3291840" cy="1097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9398" y="143366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18,956 units | 38.2%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911096"/>
            <a:ext cx="4114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85FA5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198424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2258568"/>
            <a:ext cx="2715125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4869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15,635 units | 31.5%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496312"/>
            <a:ext cx="4114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5694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36592" y="2843784"/>
            <a:ext cx="2501180" cy="10972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0924" y="27980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14,403 units | 29.0%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081528"/>
            <a:ext cx="4114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EF9F27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1546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429000"/>
            <a:ext cx="95859" cy="1097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5603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units | 1.1%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666744"/>
            <a:ext cx="4114800" cy="502920"/>
          </a:xfrm>
          <a:prstGeom prst="rect">
            <a:avLst/>
          </a:prstGeom>
          <a:solidFill>
            <a:srgbClr val="0D1F35"/>
          </a:solidFill>
          <a:ln w="12700">
            <a:solidFill>
              <a:srgbClr val="E24B4A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739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36592" y="4014216"/>
            <a:ext cx="4862" cy="10972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4606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units | 0.06%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352544"/>
            <a:ext cx="4114800" cy="344146"/>
          </a:xfrm>
          <a:prstGeom prst="rect">
            <a:avLst/>
          </a:prstGeom>
          <a:solidFill>
            <a:srgbClr val="E1F5E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361687"/>
            <a:ext cx="3931920" cy="335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dominates at 38.2%. XL+XXL = only 580 units combined — premium size gap opportunity.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2-page interactive dashboard — Home · Best/Worst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HOME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42646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264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33856" y="142646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· Avg Pizzas/Order · Total Orders · Pizzas Sold · Revenue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74650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465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 Bar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3856" y="17465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→ Sat order volume — Thu/Fri/Sat highlighted as peak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06654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665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06654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Dec orders — July peak, October trough visible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38658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8658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Donut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3856" y="238658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26.91% · Supreme 25.46% · Chicken 23.96% · Veggie 23.68%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70662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066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Donut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3856" y="270662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45.89% · Medium 30.49% · Small 21.77% · XL/XXL minimal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02666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0266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Bar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3856" y="302666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 by category — Classic leads at 14.9K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334670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3467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Insight Panel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3856" y="3346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text insights: busiest days/months/pizza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666744"/>
            <a:ext cx="731520" cy="237744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6667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3856" y="366674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Category dropdown · Date range slider (1/1/2015–12/31/2015)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960120"/>
            <a:ext cx="4114800" cy="6400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E8F8F5"/>
          </a:solidFill>
          <a:ln w="12700">
            <a:solidFill>
              <a:srgbClr val="B2EA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0058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BEST / WORST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142646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4264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705856" y="142646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$43.4K · BBQ Chicken $42.8K · Cali Chicken $41.4K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28032" y="174650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174650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Qty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05856" y="174650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Pepperoni 503 · BBQ Chicken 489 · California 479 · Hawaiian 473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28032" y="206654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0665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Orders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05856" y="206654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Pepperoni 473 · BBQ Chicken 454 · Hawaiian 448 · California 444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28032" y="238658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3865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5 Revenue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05856" y="238658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 $2.3K · Spinach $3.0K · Green Garden $2.8K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28032" y="270662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7066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5 Qty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05856" y="270662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 97 · Mediterranean 161 · Green Garden 198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28032" y="302666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30266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5 Orders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05856" y="302666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 95 · Mediterranean 156 · Spinach 176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28032" y="334670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34670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Insight Panel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705856" y="334670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insights: highest/lowest revenue, qty, order pizza names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28032" y="3666744"/>
            <a:ext cx="822960" cy="237744"/>
          </a:xfrm>
          <a:prstGeom prst="rect">
            <a:avLst/>
          </a:prstGeom>
          <a:solidFill>
            <a:srgbClr val="0F6D7E">
              <a:alpha val="15000"/>
            </a:srgbClr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6667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705856" y="3666744"/>
            <a:ext cx="3054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Pizza Category + Date Range slicers as Page 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Data-backed actions for restaurant operations leadership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92224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24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Strategy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1536192"/>
            <a:ext cx="73152" cy="7315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630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Thai Chicken as premium hero — highest revenue at $43,434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1911096"/>
            <a:ext cx="73152" cy="7315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379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XL size with top sellers — only 552 XL sold vs 18,956 Large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286000"/>
            <a:ext cx="73152" cy="7315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128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$45 avg order through combo upsell (currently $38.31)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06240" cy="1792224"/>
          </a:xfrm>
          <a:prstGeom prst="rect">
            <a:avLst/>
          </a:prstGeom>
          <a:solidFill>
            <a:srgbClr val="0D1F35"/>
          </a:solidFill>
          <a:ln w="12700">
            <a:solidFill>
              <a:srgbClr val="E24B4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60120"/>
            <a:ext cx="420624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E24B4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024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Menu Rationalisation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91456" y="1536192"/>
            <a:ext cx="73152" cy="7315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4630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retiring Brie Carre Pizza — worst across all 3 metrics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91456" y="1911096"/>
            <a:ext cx="73152" cy="7315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8379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bottom 5 recipes — all below $16K revenue for full year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91456" y="2286000"/>
            <a:ext cx="73152" cy="7315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128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ingredient budget to top-performing Chicken category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898648"/>
            <a:ext cx="4206240" cy="1792224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98648"/>
            <a:ext cx="4206240" cy="6400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98648"/>
            <a:ext cx="420624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626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Staffing &amp; Ops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36" y="3474720"/>
            <a:ext cx="73152" cy="73152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401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Thu/Fri/Sat — 35% more orders than Sunday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2336" y="3849624"/>
            <a:ext cx="73152" cy="73152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7764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kitchen capacity 12–13:00 — 12,746 orders in 2 hours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" y="4224528"/>
            <a:ext cx="73152" cy="73152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1513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part-time staff for July–August peak season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898648"/>
            <a:ext cx="4206240" cy="1792224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98648"/>
            <a:ext cx="42062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898648"/>
            <a:ext cx="4206240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9626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Growth Opportunities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91456" y="3474720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401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dip strategy: loyalty rewards Oct/Nov to smooth demand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91456" y="3849624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7764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XL/XXL pizza marketing push — near-zero penetration currently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91456" y="4224528"/>
            <a:ext cx="73152" cy="731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1513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Veggie expansion — near-equal revenue but growing consumer trend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&amp; SKILLS DEMONSTRATED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End-to-end: CSV → PostgreSQL → Power BI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64592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078992"/>
            <a:ext cx="438912" cy="43891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48,620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1226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pizza_sales.csv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134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 per record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146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64008" cy="640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1576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Jan–Dec 2015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9601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960120"/>
            <a:ext cx="164592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15184" y="1078992"/>
            <a:ext cx="438912" cy="43891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8483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DDL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2185416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11226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raw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2386584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12848" y="23134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date column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03120" y="2587752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2848" y="25146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from CSV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03120" y="2788920"/>
            <a:ext cx="64008" cy="6400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2848" y="271576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49040" y="9601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49040" y="960120"/>
            <a:ext cx="1645920" cy="64008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52544" y="1078992"/>
            <a:ext cx="438912" cy="438912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52544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2219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2219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type casting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2185416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0208" y="211226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to_date() cast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0" y="2386584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0208" y="23134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::time conversion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40480" y="2587752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0208" y="25146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enforcement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0" y="2788920"/>
            <a:ext cx="64008" cy="64008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0208" y="271576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pizza_sales clean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0" y="9601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0" y="960120"/>
            <a:ext cx="1645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1078992"/>
            <a:ext cx="438912" cy="43891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9904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55955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SQL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5955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queries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77840" y="218541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211226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Rankings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77840" y="238658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87568" y="23134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577840" y="258775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5146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RANK()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577840" y="278892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271576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223760" y="96012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23760" y="960120"/>
            <a:ext cx="1645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27264" y="1078992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27264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296912" y="160020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96912" y="1837944"/>
            <a:ext cx="1499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15200" y="2185416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24928" y="211226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dashboard pages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315200" y="2386584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24928" y="23134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15200" y="2587752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24928" y="25146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interactivity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15200" y="2788920"/>
            <a:ext cx="64008" cy="640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24928" y="271576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panels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865376" y="1828800"/>
            <a:ext cx="54864" cy="12801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02736" y="1828800"/>
            <a:ext cx="54864" cy="12801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40096" y="1828800"/>
            <a:ext cx="54864" cy="12801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77456" y="1828800"/>
            <a:ext cx="54864" cy="12801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" y="3108960"/>
            <a:ext cx="859536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1455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VALIDATED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74320" y="3474720"/>
            <a:ext cx="85953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3474720"/>
            <a:ext cx="54864" cy="32918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2336" y="35295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664208" y="3529584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DML · to_date() · EXTRACT · TO_CHAR · Window Functions · CTEs · RANK()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74320" y="3858768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3858768"/>
            <a:ext cx="54864" cy="329184"/>
          </a:xfrm>
          <a:prstGeom prst="rect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2336" y="39136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664208" y="3913632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 · type casting · schema staging · data validation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74320" y="4242816"/>
            <a:ext cx="85953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4320" y="4242816"/>
            <a:ext cx="54864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2336" y="42976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EDA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664208" y="4297680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distribution analysis · trend analysis · cumulative metrics · ranked partitions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74320" y="462686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4626864"/>
            <a:ext cx="54864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2336" y="46817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664208" y="468172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· bar/line/donut charts · slicers · insight text boxes · 2-page navigation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  |  Business &amp; Healthcare Data Science  |  Dubai, UAE  |  Pizza Sales Analytics — End-to-End Portfolio Project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PORTFOLIO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pizza sales analytics — PostgreSQL · Power BI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E85D04">
              <a:alpha val="10000"/>
            </a:srgbClr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complete data analytics proficiency: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ingestion and SQL data cleaning through 15 structured EDA queries, to a production-ready Power BI dashboard with actionable business insights — all built without any no-code shortcuts.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E85D0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75688"/>
            <a:ext cx="310896" cy="310896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pipeline: raw staging table → cleaned production table → 15+ SQL queries covering KPIs, rankings, trends, and window functions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185FA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075688"/>
            <a:ext cx="310896" cy="31089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96596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RANK() OVER PARTITION BY, SUM() OVER cumulative, CTE with WITH clause — senior-level query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1D9E7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77063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insight: Thai Chicken $43.4K vs Brie Carre $11.6K — 274% gap. Menu rationalisation backed by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679192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0F6D7E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880360"/>
            <a:ext cx="310896" cy="310896"/>
          </a:xfrm>
          <a:prstGeom prst="ellipse">
            <a:avLst/>
          </a:prstGeom>
          <a:solidFill>
            <a:srgbClr val="0F6D7E"/>
          </a:solidFill>
          <a:ln w="12700">
            <a:solidFill>
              <a:srgbClr val="0F6D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77063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intelligence: Friday peak (3,538 orders), 12–1pm rush (12,746 orders in 2 hours), July high season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85032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5753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2 pages, 5 KPI cards, 6 chart types, slicer interactivity, auto-generated insight text panels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483864"/>
            <a:ext cx="4069080" cy="685800"/>
          </a:xfrm>
          <a:prstGeom prst="rect">
            <a:avLst/>
          </a:prstGeom>
          <a:solidFill>
            <a:srgbClr val="0D1F35"/>
          </a:solidFill>
          <a:ln w="12700">
            <a:solidFill>
              <a:srgbClr val="EF9F2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685032"/>
            <a:ext cx="310896" cy="310896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5753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category revenue split (24–27%) shows strong portfolio balance — but XL/XXL (580 units) is a clear premium gap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E85D0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Fathima Suhaila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&amp; Healthcare Data Science  |  Dubai, UAE  |  </a:t>
            </a: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github.com/suhaila1985  |  linkedin.com/in/fathimasuhaila198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2037</Words>
  <Application>Microsoft Office PowerPoint</Application>
  <PresentationFormat>On-screen Show (16:9)</PresentationFormat>
  <Paragraphs>480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Analytics — End-to-End Portfolio</dc:title>
  <dc:subject>PptxGenJS Presentation</dc:subject>
  <dc:creator>Fathima Suhaila</dc:creator>
  <cp:lastModifiedBy>hp</cp:lastModifiedBy>
  <cp:revision>3</cp:revision>
  <dcterms:created xsi:type="dcterms:W3CDTF">2026-03-17T19:31:45Z</dcterms:created>
  <dcterms:modified xsi:type="dcterms:W3CDTF">2026-03-17T19:53:01Z</dcterms:modified>
</cp:coreProperties>
</file>